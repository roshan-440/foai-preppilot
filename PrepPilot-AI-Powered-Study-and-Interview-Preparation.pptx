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embeddedFontLst>
    <p:embeddedFont>
      <p:font typeface="DM Serif Display" pitchFamily="2" charset="0"/>
      <p:regular r:id="rId14"/>
    </p:embeddedFont>
    <p:embeddedFont>
      <p:font typeface="Hanken Grotesk" panose="020B0604020202020204" charset="0"/>
      <p:regular r:id="rId15"/>
    </p:embeddedFont>
    <p:embeddedFont>
      <p:font typeface="Hanken Grotesk Bold" panose="020B0604020202020204" charset="0"/>
      <p:regular r:id="rId16"/>
    </p:embeddedFont>
    <p:embeddedFont>
      <p:font typeface="Hanken Grotesk Medium" panose="020B0604020202020204" charset="0"/>
      <p:regular r:id="rId17"/>
    </p:embeddedFont>
    <p:embeddedFont>
      <p:font typeface="Hanken Grotesk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628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12465117/" TargetMode="External"/><Relationship Id="rId5" Type="http://schemas.openxmlformats.org/officeDocument/2006/relationships/hyperlink" Target="https://arxiv.org/html/2605.06257v1" TargetMode="External"/><Relationship Id="rId4" Type="http://schemas.openxmlformats.org/officeDocument/2006/relationships/hyperlink" Target="https://arxiv.org/html/2504.12452v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2E46E0"/>
          </a:solidFill>
          <a:ln/>
        </p:spPr>
      </p:sp>
      <p:sp>
        <p:nvSpPr>
          <p:cNvPr id="4" name="Text 2"/>
          <p:cNvSpPr/>
          <p:nvPr/>
        </p:nvSpPr>
        <p:spPr>
          <a:xfrm>
            <a:off x="626650" y="736600"/>
            <a:ext cx="150689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3016" y="1139825"/>
            <a:ext cx="154053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792" y="5842000"/>
            <a:ext cx="182875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FFFFFF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Department</a:t>
            </a:r>
            <a:endParaRPr lang="en-US" sz="1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FFFFFF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of CSE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97125" y="2295331"/>
            <a:ext cx="8635784" cy="17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5200" kern="100" spc="-52" dirty="0">
                <a:solidFill>
                  <a:srgbClr val="1A1B3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PrepPilot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997125" y="3076158"/>
            <a:ext cx="8635784" cy="963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20" dirty="0">
                <a:solidFill>
                  <a:srgbClr val="1A1B3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AI-Powered Study and Interview Preparation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2997125" y="4108053"/>
            <a:ext cx="5785797" cy="31651"/>
          </a:xfrm>
          <a:prstGeom prst="roundRect">
            <a:avLst>
              <a:gd name="adj" fmla="val 49998"/>
            </a:avLst>
          </a:prstGeom>
          <a:solidFill>
            <a:srgbClr val="C9381F"/>
          </a:solidFill>
          <a:ln/>
        </p:spPr>
      </p:sp>
      <p:sp>
        <p:nvSpPr>
          <p:cNvPr id="11" name="Text 9"/>
          <p:cNvSpPr/>
          <p:nvPr/>
        </p:nvSpPr>
        <p:spPr>
          <a:xfrm>
            <a:off x="2997125" y="4636691"/>
            <a:ext cx="8635784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From knowledge gaps to interview readiness.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97125" y="5905599"/>
            <a:ext cx="919457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Team: Santhosh M and Roshan Nur</a:t>
            </a: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BCDF14-76E4-760C-4FCE-2DE842570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751" y="67007"/>
            <a:ext cx="8090147" cy="22400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00"/>
          </a:xfrm>
          <a:prstGeom prst="rect">
            <a:avLst/>
          </a:prstGeom>
          <a:solidFill>
            <a:srgbClr val="2E46E0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558800"/>
            <a:ext cx="2133547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5791200"/>
            <a:ext cx="213354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FFFFFF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One connected preparation journey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51119" y="1768475"/>
            <a:ext cx="8940576" cy="3321050"/>
          </a:xfrm>
          <a:prstGeom prst="rect">
            <a:avLst/>
          </a:prstGeom>
          <a:solidFill>
            <a:srgbClr val="DCE4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509" y="2174875"/>
            <a:ext cx="812779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Personalized learning, followed by interview practice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509" y="2740025"/>
            <a:ext cx="8127797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1750"/>
              </a:spcAft>
              <a:buNone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PrepPilot finds the topics a student has not studied or is weak in, builds a personalized study plan, tests knowledge with quizzes, and adapts the plan.</a:t>
            </a:r>
            <a:endParaRPr lang="en-US" sz="2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then prepares the student for interviews with FAQs and an AI mock interview, ending in a readiness score.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100" spc="32" dirty="0">
                <a:solidFill>
                  <a:srgbClr val="5A5D7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Literature survey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58786" y="90418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1A1B3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Literature Survey: What Exists, What Is Missing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597025"/>
            <a:ext cx="5460863" cy="1570831"/>
          </a:xfrm>
          <a:prstGeom prst="rect">
            <a:avLst/>
          </a:prstGeom>
          <a:solidFill>
            <a:srgbClr val="DCE4FF"/>
          </a:solidFill>
          <a:ln/>
        </p:spPr>
      </p:sp>
      <p:sp>
        <p:nvSpPr>
          <p:cNvPr id="5" name="Shape 3"/>
          <p:cNvSpPr/>
          <p:nvPr/>
        </p:nvSpPr>
        <p:spPr>
          <a:xfrm>
            <a:off x="761981" y="1724025"/>
            <a:ext cx="444489" cy="444500"/>
          </a:xfrm>
          <a:prstGeom prst="ellipse">
            <a:avLst/>
          </a:prstGeom>
          <a:solidFill>
            <a:srgbClr val="2E46E0"/>
          </a:solidFill>
          <a:ln/>
        </p:spPr>
      </p:sp>
      <p:sp>
        <p:nvSpPr>
          <p:cNvPr id="6" name="Text 4"/>
          <p:cNvSpPr/>
          <p:nvPr/>
        </p:nvSpPr>
        <p:spPr>
          <a:xfrm>
            <a:off x="913087" y="1819275"/>
            <a:ext cx="50253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67915" y="1724025"/>
            <a:ext cx="444489" cy="444500"/>
          </a:xfrm>
          <a:prstGeom prst="ellipse">
            <a:avLst/>
          </a:prstGeom>
          <a:solidFill>
            <a:srgbClr val="2E46E0"/>
          </a:solidFill>
          <a:ln/>
        </p:spPr>
      </p:sp>
      <p:sp>
        <p:nvSpPr>
          <p:cNvPr id="8" name="Text 6"/>
          <p:cNvSpPr/>
          <p:nvPr/>
        </p:nvSpPr>
        <p:spPr>
          <a:xfrm>
            <a:off x="1719021" y="1819275"/>
            <a:ext cx="75186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66397" y="1806575"/>
            <a:ext cx="3550057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A1B33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PlanGlow</a:t>
            </a:r>
            <a:r>
              <a:rPr lang="en-US" sz="18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makes LLM study planning explainable and controllable; a 24-participant study.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046" y="1597025"/>
            <a:ext cx="5460863" cy="1570831"/>
          </a:xfrm>
          <a:prstGeom prst="rect">
            <a:avLst/>
          </a:prstGeom>
          <a:solidFill>
            <a:srgbClr val="DCE4FF"/>
          </a:solidFill>
          <a:ln/>
        </p:spPr>
      </p:sp>
      <p:sp>
        <p:nvSpPr>
          <p:cNvPr id="11" name="Shape 9"/>
          <p:cNvSpPr/>
          <p:nvPr/>
        </p:nvSpPr>
        <p:spPr>
          <a:xfrm>
            <a:off x="6375241" y="1724025"/>
            <a:ext cx="444489" cy="444500"/>
          </a:xfrm>
          <a:prstGeom prst="ellipse">
            <a:avLst/>
          </a:prstGeom>
          <a:solidFill>
            <a:srgbClr val="2E46E0"/>
          </a:solidFill>
          <a:ln/>
        </p:spPr>
      </p:sp>
      <p:sp>
        <p:nvSpPr>
          <p:cNvPr id="12" name="Text 10"/>
          <p:cNvSpPr/>
          <p:nvPr/>
        </p:nvSpPr>
        <p:spPr>
          <a:xfrm>
            <a:off x="6526347" y="1819275"/>
            <a:ext cx="50253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181174" y="1724025"/>
            <a:ext cx="444489" cy="444500"/>
          </a:xfrm>
          <a:prstGeom prst="ellipse">
            <a:avLst/>
          </a:prstGeom>
          <a:solidFill>
            <a:srgbClr val="2E46E0"/>
          </a:solidFill>
          <a:ln/>
        </p:spPr>
      </p:sp>
      <p:sp>
        <p:nvSpPr>
          <p:cNvPr id="14" name="Text 12"/>
          <p:cNvSpPr/>
          <p:nvPr/>
        </p:nvSpPr>
        <p:spPr>
          <a:xfrm>
            <a:off x="7332281" y="1819275"/>
            <a:ext cx="75186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79657" y="1806575"/>
            <a:ext cx="3550057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A1B33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LearnMate2</a:t>
            </a:r>
            <a:r>
              <a:rPr lang="en-US" sz="18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combines personalized planning with adaptive activities driven by quiz performance.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8786" y="3320157"/>
            <a:ext cx="5460863" cy="1570831"/>
          </a:xfrm>
          <a:prstGeom prst="rect">
            <a:avLst/>
          </a:prstGeom>
          <a:solidFill>
            <a:srgbClr val="DCE4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1981" y="3447157"/>
            <a:ext cx="444489" cy="444500"/>
          </a:xfrm>
          <a:prstGeom prst="ellipse">
            <a:avLst/>
          </a:prstGeom>
          <a:solidFill>
            <a:srgbClr val="2E46E0"/>
          </a:solidFill>
          <a:ln/>
        </p:spPr>
      </p:sp>
      <p:sp>
        <p:nvSpPr>
          <p:cNvPr id="18" name="Text 16"/>
          <p:cNvSpPr/>
          <p:nvPr/>
        </p:nvSpPr>
        <p:spPr>
          <a:xfrm>
            <a:off x="913087" y="3542407"/>
            <a:ext cx="50253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567915" y="3447157"/>
            <a:ext cx="444489" cy="444500"/>
          </a:xfrm>
          <a:prstGeom prst="ellipse">
            <a:avLst/>
          </a:prstGeom>
          <a:solidFill>
            <a:srgbClr val="2E46E0"/>
          </a:solidFill>
          <a:ln/>
        </p:spPr>
      </p:sp>
      <p:sp>
        <p:nvSpPr>
          <p:cNvPr id="20" name="Text 18"/>
          <p:cNvSpPr/>
          <p:nvPr/>
        </p:nvSpPr>
        <p:spPr>
          <a:xfrm>
            <a:off x="1719021" y="3542407"/>
            <a:ext cx="75186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266397" y="3529707"/>
            <a:ext cx="3550057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A1B33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AI-driven personalized platform</a:t>
            </a:r>
            <a:r>
              <a:rPr lang="en-US" sz="18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evaluates learning outcomes in a randomized trial with 40 medical students.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72046" y="3320157"/>
            <a:ext cx="5460863" cy="1570831"/>
          </a:xfrm>
          <a:prstGeom prst="rect">
            <a:avLst/>
          </a:prstGeom>
          <a:solidFill>
            <a:srgbClr val="FFE14A"/>
          </a:solidFill>
          <a:ln/>
        </p:spPr>
      </p:sp>
      <p:sp>
        <p:nvSpPr>
          <p:cNvPr id="23" name="Shape 21"/>
          <p:cNvSpPr/>
          <p:nvPr/>
        </p:nvSpPr>
        <p:spPr>
          <a:xfrm>
            <a:off x="6375241" y="3447157"/>
            <a:ext cx="444489" cy="444500"/>
          </a:xfrm>
          <a:prstGeom prst="ellipse">
            <a:avLst/>
          </a:prstGeom>
          <a:solidFill>
            <a:srgbClr val="2E46E0"/>
          </a:solidFill>
          <a:ln/>
        </p:spPr>
      </p:sp>
      <p:sp>
        <p:nvSpPr>
          <p:cNvPr id="24" name="Text 22"/>
          <p:cNvSpPr/>
          <p:nvPr/>
        </p:nvSpPr>
        <p:spPr>
          <a:xfrm>
            <a:off x="6526347" y="3542407"/>
            <a:ext cx="50253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7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181174" y="3447157"/>
            <a:ext cx="444489" cy="444500"/>
          </a:xfrm>
          <a:prstGeom prst="ellipse">
            <a:avLst/>
          </a:prstGeom>
          <a:solidFill>
            <a:srgbClr val="2E46E0"/>
          </a:solidFill>
          <a:ln/>
        </p:spPr>
      </p:sp>
      <p:sp>
        <p:nvSpPr>
          <p:cNvPr id="26" name="Text 24"/>
          <p:cNvSpPr/>
          <p:nvPr/>
        </p:nvSpPr>
        <p:spPr>
          <a:xfrm>
            <a:off x="7332281" y="3542407"/>
            <a:ext cx="75186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879657" y="3529707"/>
            <a:ext cx="355005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These tools plan or teach but do not link academics to interview readiness.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58786" y="5043289"/>
            <a:ext cx="11074123" cy="1022350"/>
          </a:xfrm>
          <a:prstGeom prst="rect">
            <a:avLst/>
          </a:prstGeom>
          <a:solidFill>
            <a:srgbClr val="DCE4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61981" y="5494139"/>
            <a:ext cx="444489" cy="444500"/>
          </a:xfrm>
          <a:prstGeom prst="ellipse">
            <a:avLst/>
          </a:prstGeom>
          <a:solidFill>
            <a:srgbClr val="2E46E0"/>
          </a:solidFill>
          <a:ln/>
        </p:spPr>
      </p:sp>
      <p:sp>
        <p:nvSpPr>
          <p:cNvPr id="30" name="Text 28"/>
          <p:cNvSpPr/>
          <p:nvPr/>
        </p:nvSpPr>
        <p:spPr>
          <a:xfrm>
            <a:off x="913087" y="5589389"/>
            <a:ext cx="75186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9</a:t>
            </a:r>
            <a:endParaRPr lang="en-US" sz="20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463" y="5170289"/>
            <a:ext cx="634984" cy="63500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2316402" y="5170289"/>
            <a:ext cx="444489" cy="444500"/>
          </a:xfrm>
          <a:prstGeom prst="ellipse">
            <a:avLst/>
          </a:prstGeom>
          <a:solidFill>
            <a:srgbClr val="2E46E0"/>
          </a:solidFill>
          <a:ln/>
        </p:spPr>
      </p:sp>
      <p:sp>
        <p:nvSpPr>
          <p:cNvPr id="33" name="Text 30"/>
          <p:cNvSpPr/>
          <p:nvPr/>
        </p:nvSpPr>
        <p:spPr>
          <a:xfrm>
            <a:off x="2396371" y="5265539"/>
            <a:ext cx="89413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10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3014885" y="5252839"/>
            <a:ext cx="841482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PrepPilot closes the gap through gap detection, an adaptive plan, quizzes, a mock interview, and a readiness score.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100" spc="32" dirty="0">
                <a:solidFill>
                  <a:srgbClr val="5A5D7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Technical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58786" y="90418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1A1B3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1597025"/>
            <a:ext cx="116329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React screens connect preparation modules to backend and AI services.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58786" y="2193925"/>
            <a:ext cx="3691341" cy="4105275"/>
          </a:xfrm>
          <a:prstGeom prst="rect">
            <a:avLst/>
          </a:prstGeom>
          <a:solidFill>
            <a:srgbClr val="DCE4FF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2447925"/>
            <a:ext cx="163597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Frontend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780" y="2892425"/>
            <a:ext cx="31833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React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2780" y="3457575"/>
            <a:ext cx="3183354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Dashboard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Planner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Quiz screens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Interview screens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50127" y="2193925"/>
            <a:ext cx="3691341" cy="4105275"/>
          </a:xfrm>
          <a:prstGeom prst="rect">
            <a:avLst/>
          </a:prstGeom>
          <a:solidFill>
            <a:srgbClr val="FFE14A"/>
          </a:solidFill>
          <a:ln/>
        </p:spPr>
      </p:sp>
      <p:sp>
        <p:nvSpPr>
          <p:cNvPr id="10" name="Text 8"/>
          <p:cNvSpPr/>
          <p:nvPr/>
        </p:nvSpPr>
        <p:spPr>
          <a:xfrm>
            <a:off x="4504121" y="2447925"/>
            <a:ext cx="1581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Modules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04121" y="2892425"/>
            <a:ext cx="3183354" cy="237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Gap analyzer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Plan generator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Quiz engine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Revision engine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Interview engine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Readiness scorer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41469" y="2193925"/>
            <a:ext cx="3691440" cy="4105275"/>
          </a:xfrm>
          <a:prstGeom prst="rect">
            <a:avLst/>
          </a:prstGeom>
          <a:solidFill>
            <a:srgbClr val="DCE4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95462" y="2447925"/>
            <a:ext cx="23662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Backend and AI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95462" y="2892425"/>
            <a:ext cx="318345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Shared services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95462" y="3457575"/>
            <a:ext cx="3183453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Database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Authentication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AI service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90D7FC-584D-A660-AC19-BA4F66A6E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02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100" spc="32" dirty="0">
                <a:solidFill>
                  <a:srgbClr val="5A5D7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Functional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58786" y="90418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1A1B3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Eight Modules, One Preparation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597025"/>
            <a:ext cx="2616135" cy="1781175"/>
          </a:xfrm>
          <a:prstGeom prst="rect">
            <a:avLst/>
          </a:prstGeom>
          <a:solidFill>
            <a:srgbClr val="DCE4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" y="1825625"/>
            <a:ext cx="507987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7380" y="2482850"/>
            <a:ext cx="215894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Subjects and Topics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3479713" y="1597025"/>
            <a:ext cx="2463738" cy="1781175"/>
          </a:xfrm>
          <a:prstGeom prst="rect">
            <a:avLst/>
          </a:prstGeom>
          <a:solidFill>
            <a:srgbClr val="DCE4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307" y="1825625"/>
            <a:ext cx="507987" cy="508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8307" y="2482850"/>
            <a:ext cx="20065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Knowledge Gap Analyzer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248244" y="1597025"/>
            <a:ext cx="2463738" cy="1781175"/>
          </a:xfrm>
          <a:prstGeom prst="rect">
            <a:avLst/>
          </a:prstGeom>
          <a:solidFill>
            <a:srgbClr val="DCE4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838" y="1825625"/>
            <a:ext cx="507987" cy="508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76838" y="2482850"/>
            <a:ext cx="20065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Study Plan Generator</a:t>
            </a:r>
            <a:endParaRPr lang="en-US" sz="2100" dirty="0"/>
          </a:p>
        </p:txBody>
      </p:sp>
      <p:sp>
        <p:nvSpPr>
          <p:cNvPr id="13" name="Shape 8"/>
          <p:cNvSpPr/>
          <p:nvPr/>
        </p:nvSpPr>
        <p:spPr>
          <a:xfrm>
            <a:off x="9016774" y="1597025"/>
            <a:ext cx="2616135" cy="1781175"/>
          </a:xfrm>
          <a:prstGeom prst="rect">
            <a:avLst/>
          </a:prstGeom>
          <a:solidFill>
            <a:srgbClr val="DCE4FF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5369" y="1825625"/>
            <a:ext cx="507987" cy="508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45369" y="2482850"/>
            <a:ext cx="215894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Adaptive Planner</a:t>
            </a:r>
            <a:endParaRPr lang="en-US" sz="2100" dirty="0"/>
          </a:p>
        </p:txBody>
      </p:sp>
      <p:sp>
        <p:nvSpPr>
          <p:cNvPr id="16" name="Shape 10"/>
          <p:cNvSpPr/>
          <p:nvPr/>
        </p:nvSpPr>
        <p:spPr>
          <a:xfrm>
            <a:off x="558786" y="3683000"/>
            <a:ext cx="2616135" cy="2114550"/>
          </a:xfrm>
          <a:prstGeom prst="rect">
            <a:avLst/>
          </a:prstGeom>
          <a:solidFill>
            <a:srgbClr val="DCE4FF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380" y="3911600"/>
            <a:ext cx="507987" cy="508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87380" y="4568825"/>
            <a:ext cx="215894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Quiz System</a:t>
            </a:r>
            <a:endParaRPr lang="en-US" sz="2100" dirty="0"/>
          </a:p>
        </p:txBody>
      </p:sp>
      <p:sp>
        <p:nvSpPr>
          <p:cNvPr id="19" name="Shape 12"/>
          <p:cNvSpPr/>
          <p:nvPr/>
        </p:nvSpPr>
        <p:spPr>
          <a:xfrm>
            <a:off x="3479713" y="3683000"/>
            <a:ext cx="2463738" cy="2114550"/>
          </a:xfrm>
          <a:prstGeom prst="rect">
            <a:avLst/>
          </a:prstGeom>
          <a:solidFill>
            <a:srgbClr val="DCE4FF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8307" y="3911600"/>
            <a:ext cx="507987" cy="508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708307" y="4568825"/>
            <a:ext cx="20065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Revision Engine</a:t>
            </a:r>
            <a:endParaRPr lang="en-US" sz="2100" dirty="0"/>
          </a:p>
        </p:txBody>
      </p:sp>
      <p:sp>
        <p:nvSpPr>
          <p:cNvPr id="22" name="Shape 14"/>
          <p:cNvSpPr/>
          <p:nvPr/>
        </p:nvSpPr>
        <p:spPr>
          <a:xfrm>
            <a:off x="6248244" y="3683000"/>
            <a:ext cx="2463738" cy="2114550"/>
          </a:xfrm>
          <a:prstGeom prst="rect">
            <a:avLst/>
          </a:prstGeom>
          <a:solidFill>
            <a:srgbClr val="DCE4FF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6838" y="3911600"/>
            <a:ext cx="507987" cy="5080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76838" y="4568825"/>
            <a:ext cx="20065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Interview Prep and Mock Interview</a:t>
            </a:r>
            <a:endParaRPr lang="en-US" sz="2100" dirty="0"/>
          </a:p>
        </p:txBody>
      </p:sp>
      <p:sp>
        <p:nvSpPr>
          <p:cNvPr id="25" name="Shape 16"/>
          <p:cNvSpPr/>
          <p:nvPr/>
        </p:nvSpPr>
        <p:spPr>
          <a:xfrm>
            <a:off x="9016774" y="3683000"/>
            <a:ext cx="2616135" cy="2114550"/>
          </a:xfrm>
          <a:prstGeom prst="rect">
            <a:avLst/>
          </a:prstGeom>
          <a:solidFill>
            <a:srgbClr val="FFE14A"/>
          </a:solidFill>
          <a:ln/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5369" y="3911600"/>
            <a:ext cx="507987" cy="5080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245369" y="4568825"/>
            <a:ext cx="215894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Readiness Score and Analytics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100" spc="32" dirty="0">
                <a:solidFill>
                  <a:srgbClr val="5A5D7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Core behaviors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58786" y="90418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1A1B3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Key Modules in Detail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487091"/>
            <a:ext cx="507987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0767" y="1597025"/>
            <a:ext cx="454648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Gap analyzer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320767" y="2114550"/>
            <a:ext cx="45464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Explains why a topic is high priority.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6" y="2978249"/>
            <a:ext cx="507987" cy="50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0767" y="3088184"/>
            <a:ext cx="454648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Adaptive planner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320767" y="3605709"/>
            <a:ext cx="45464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Reschedules missed tasks to keep the plan current.</a:t>
            </a:r>
            <a:endParaRPr lang="en-US" sz="2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786" y="4812308"/>
            <a:ext cx="507987" cy="50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0767" y="4922242"/>
            <a:ext cx="454648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Quizzes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320767" y="5439767"/>
            <a:ext cx="45464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Flag weak topics for further study and revision.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324442" y="1597025"/>
            <a:ext cx="5308467" cy="2198688"/>
          </a:xfrm>
          <a:prstGeom prst="rect">
            <a:avLst/>
          </a:prstGeom>
          <a:solidFill>
            <a:srgbClr val="DCE4FF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234" y="1791891"/>
            <a:ext cx="507987" cy="508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91215" y="1901825"/>
            <a:ext cx="393690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Mock interview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7391215" y="2419350"/>
            <a:ext cx="39369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B3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Scores responses across six dimensions.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6324442" y="4100513"/>
            <a:ext cx="5308467" cy="2198688"/>
          </a:xfrm>
          <a:prstGeom prst="rect">
            <a:avLst/>
          </a:prstGeom>
          <a:solidFill>
            <a:srgbClr val="FFE14A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234" y="4295378"/>
            <a:ext cx="507987" cy="508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91215" y="4405313"/>
            <a:ext cx="393690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Readiness score</a:t>
            </a:r>
            <a:endParaRPr lang="en-US" sz="2100" dirty="0"/>
          </a:p>
        </p:txBody>
      </p:sp>
      <p:sp>
        <p:nvSpPr>
          <p:cNvPr id="20" name="Text 13"/>
          <p:cNvSpPr/>
          <p:nvPr/>
        </p:nvSpPr>
        <p:spPr>
          <a:xfrm>
            <a:off x="7391215" y="4922837"/>
            <a:ext cx="39369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Shows the factors contributing to the result.</a:t>
            </a:r>
            <a:endParaRPr lang="en-US" sz="2000" dirty="0"/>
          </a:p>
        </p:txBody>
      </p:sp>
      <p:sp>
        <p:nvSpPr>
          <p:cNvPr id="21" name="Shape 14"/>
          <p:cNvSpPr/>
          <p:nvPr/>
        </p:nvSpPr>
        <p:spPr>
          <a:xfrm>
            <a:off x="558786" y="2853234"/>
            <a:ext cx="5308467" cy="12700"/>
          </a:xfrm>
          <a:prstGeom prst="rect">
            <a:avLst/>
          </a:prstGeom>
          <a:solidFill>
            <a:srgbClr val="5A5D78"/>
          </a:solidFill>
          <a:ln/>
        </p:spPr>
      </p:sp>
      <p:sp>
        <p:nvSpPr>
          <p:cNvPr id="22" name="Shape 15"/>
          <p:cNvSpPr/>
          <p:nvPr/>
        </p:nvSpPr>
        <p:spPr>
          <a:xfrm>
            <a:off x="558786" y="4687292"/>
            <a:ext cx="5308467" cy="12700"/>
          </a:xfrm>
          <a:prstGeom prst="rect">
            <a:avLst/>
          </a:prstGeom>
          <a:solidFill>
            <a:srgbClr val="5A5D7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100" spc="32" dirty="0">
                <a:solidFill>
                  <a:srgbClr val="5A5D7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Product output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58786" y="90418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1A1B3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Output: Dashboard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355" y="2651323"/>
            <a:ext cx="634984" cy="63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52638" y="3514923"/>
            <a:ext cx="1059153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Dashboard screenshot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065188" y="4080073"/>
            <a:ext cx="467090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User screenshot placeholder · upload here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786" y="5693271"/>
            <a:ext cx="1107412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5A5D78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Readiness scores, today's plan, and weak topics in one view.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64BBB2-58D0-6FF4-6AAB-94FBCC88D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359" y="1340317"/>
            <a:ext cx="9711514" cy="43492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100" spc="32" dirty="0">
                <a:solidFill>
                  <a:srgbClr val="5A5D7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Product output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58786" y="90418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1A1B3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Output: Planner and Quizzes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627" y="2575520"/>
            <a:ext cx="634984" cy="63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34519" y="3439120"/>
            <a:ext cx="490207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Planner screenshot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23625" y="4004270"/>
            <a:ext cx="286447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Upload user screenshot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786" y="5541566"/>
            <a:ext cx="53846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5A5D78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Personalized study tasks and an adaptive schedule.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084" y="2575520"/>
            <a:ext cx="634984" cy="635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36101" y="3439120"/>
            <a:ext cx="490207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Quiz screenshot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813083" y="4004270"/>
            <a:ext cx="286447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Upload user screenshot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248244" y="5541566"/>
            <a:ext cx="53846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5A5D78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Knowledge checks that flag weak topics for revision.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F9038B-AC55-B960-DDC6-5FAD7634F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412" y="1923425"/>
            <a:ext cx="5384665" cy="27574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702A1A-D222-DE4B-DC93-EA51141C4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794" y="1909687"/>
            <a:ext cx="5008437" cy="28172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kern="100" spc="32" dirty="0">
                <a:solidFill>
                  <a:srgbClr val="5A5D78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Product output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58786" y="90418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1A1B33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Output: Interview Prep and Readiness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627" y="2575520"/>
            <a:ext cx="634984" cy="63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0629" y="3439120"/>
            <a:ext cx="490207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Mock interview report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23625" y="4004270"/>
            <a:ext cx="286447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Upload user screenshot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786" y="5541566"/>
            <a:ext cx="53846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5A5D78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Mock interview report with six-dimensional scoring.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084" y="2575520"/>
            <a:ext cx="634984" cy="635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33323" y="3439120"/>
            <a:ext cx="490207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Readiness score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813083" y="4004270"/>
            <a:ext cx="286447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1A1B33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Upload user screenshot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248244" y="5541566"/>
            <a:ext cx="53846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5A5D78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Readiness score with visible contributing factors.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E1FE39-EA39-E3ED-8532-8EC71C334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76" y="2041542"/>
            <a:ext cx="4969164" cy="27951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98DD44-DCB5-BD20-EA6A-60431AA4E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562" y="2002583"/>
            <a:ext cx="5035720" cy="28325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00"/>
          </a:xfrm>
          <a:prstGeom prst="rect">
            <a:avLst/>
          </a:prstGeom>
          <a:solidFill>
            <a:srgbClr val="2E46E0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558800"/>
            <a:ext cx="2133547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16" dirty="0">
                <a:solidFill>
                  <a:srgbClr val="FFFFFF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References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5435600"/>
            <a:ext cx="253994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86" y="5791200"/>
            <a:ext cx="213354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100" spc="32" dirty="0">
                <a:solidFill>
                  <a:srgbClr val="FFFFFF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-120"/>
              </a:rPr>
              <a:t>Research supporting the literature survey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59106" y="2336800"/>
            <a:ext cx="7924602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12000"/>
              </a:lnSpc>
              <a:buSzPct val="100000"/>
              <a:buFont typeface="+mj-lt"/>
              <a:buAutoNum type="arabicPeriod"/>
            </a:pPr>
            <a:r>
              <a:rPr lang="en-US" sz="2000" b="1" u="sng" dirty="0">
                <a:solidFill>
                  <a:srgbClr val="2E46E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PlanGlow: Personalized Study Planning with an Explainable and Controllable LLM-Driven System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2000" b="1" u="sng" dirty="0">
                <a:solidFill>
                  <a:srgbClr val="2E46E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LearnMate2: LLM-powered Personalized and Adaptive Support System for Online Learning</a:t>
            </a:r>
            <a:endParaRPr lang="en-US" sz="2000" dirty="0"/>
          </a:p>
          <a:p>
            <a:pPr marL="406400" indent="-406400" algn="l">
              <a:lnSpc>
                <a:spcPct val="112000"/>
              </a:lnSpc>
              <a:buSzPct val="100000"/>
              <a:buFont typeface="+mj-lt"/>
              <a:buAutoNum type="arabicPeriod" startAt="3"/>
            </a:pPr>
            <a:r>
              <a:rPr lang="en-US" sz="2000" b="1" u="sng" dirty="0">
                <a:solidFill>
                  <a:srgbClr val="2E46E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Evaluation of the impact of AI-driven personalized learning platform on medical students' learning performance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E46E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463</Words>
  <Application>Microsoft Office PowerPoint</Application>
  <PresentationFormat>Widescreen</PresentationFormat>
  <Paragraphs>107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Hanken Grotesk Bold</vt:lpstr>
      <vt:lpstr>Hanken Grotesk</vt:lpstr>
      <vt:lpstr>Hanken Grotesk Medium</vt:lpstr>
      <vt:lpstr>Arial</vt:lpstr>
      <vt:lpstr>DM Serif Display</vt:lpstr>
      <vt:lpstr>Hanken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GANESH SANTHOSH</cp:lastModifiedBy>
  <cp:revision>5</cp:revision>
  <dcterms:created xsi:type="dcterms:W3CDTF">2026-10-04T15:46:23Z</dcterms:created>
  <dcterms:modified xsi:type="dcterms:W3CDTF">2026-10-04T16:13:55Z</dcterms:modified>
</cp:coreProperties>
</file>